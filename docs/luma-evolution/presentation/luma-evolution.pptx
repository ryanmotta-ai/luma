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Abertura. O título já entrega a tese: isto não é changelog, é a passagem de um piloto para um produto.</a:t>
            </a:r>
          </a:p>
          <a:p>
            <a:r>
              <a:t>Diga de saída que **nada aqui é mockup** — toda imagem é uma execução real, capturada de uma versão que voltou a rodar.</a:t>
            </a:r>
          </a:p>
          <a:p>
            <a:r>
              <a:t>Duração: 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Contrato com a plateia. O quarto item é o mais importante: a apresentação distingue o que é fato do que é inferência.</a:t>
            </a:r>
          </a:p>
          <a:p>
            <a:r>
              <a:t>Se alguém perguntar "de onde saiu esse número", a resposta está no índice de evidências.</a:t>
            </a:r>
          </a:p>
          <a:p>
            <a:r>
              <a:t>Duração: 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slide que ancora tudo. O piloto **roda** — não é screenshot de arquivo morto, é o HTML executado.</a:t>
            </a:r>
          </a:p>
          <a:p>
            <a:r>
              <a:t>Dois detalhes que valem falar: a fonte da marca estava embutida em base64 dentro do próprio HTML, e os prefixos `d-*` do Estúdio já existiam ali. A convenção de nomes do código de hoje nasceu neste arquivo.</a:t>
            </a:r>
          </a:p>
          <a:p>
            <a:r>
              <a:t>Duração: 1min.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integridade. Se a plateia acha que "81 commits" é o tamanho do projeto, corrija: 81 commits é o tamanho do **histórico versionado**, não do trabalho.</a:t>
            </a:r>
          </a:p>
          <a:p>
            <a:r>
              <a:t>As duas raízes órfãs indicam que o repositório foi montado a partir de trabalho que já existia.</a:t>
            </a:r>
          </a:p>
          <a:p>
            <a:r>
              <a:t>Duração: 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Divisor. Diga a regra de escolha: commit entrou porque mudou o que se vê ou o que se pode fazer — não porque é recente.</a:t>
            </a:r>
          </a:p>
          <a:p>
            <a:r>
              <a:t>Duração: 15s.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Percorra da esquerda pra direita sem se demorar — cada marco tem slide próprio depois.</a:t>
            </a:r>
          </a:p>
          <a:p>
            <a:r>
              <a:t>O que importa aqui é a forma: um piloto, um dia de fundação enorme, duas semanas de refino e um salto de capacidade no último dia.</a:t>
            </a:r>
          </a:p>
          <a:p>
            <a:r>
              <a:t>Duração: 1min.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Era 0 · Antes do git — Piloto Yungas — Módulo de Artes.</a:t>
            </a:r>
          </a:p>
          <a:p>
            <a:r>
              <a:t>Por que entrou: É a única evidência do produto ANTES do git. As duas raízes do repositório já contêm o app inteiro, então sem este arquivo a pergunta 'como o Luma começou?' não teria resposta com evidência.</a:t>
            </a:r>
          </a:p>
          <a:p>
            <a:r>
              <a:t>· Nome do produto: 'Yungas · Módulo de Artes · Delivery Much' — ainda não se chamava Luma</a:t>
            </a:r>
          </a:p>
          <a:p>
            <a:r>
              <a:t>· 1 arquivo, 565.693 bytes, 9.316 linhas</a:t>
            </a:r>
          </a:p>
          <a:p>
            <a:r>
              <a:t>Duração: 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Era 1 · Base preservada — O que o git preserva como ponto de partida.</a:t>
            </a:r>
          </a:p>
          <a:p>
            <a:r>
              <a:t>Por que entrou: Commit mais antigo POR DATA-HORA no repositório. Já traz 284 arquivos e o index.html com 234.737 bytes — ou seja, o git começa com o produto pronto, não com o começo dele.</a:t>
            </a:r>
          </a:p>
          <a:p>
            <a:r>
              <a:t>· 284 arquivos versionados já no commit mais antigo</a:t>
            </a:r>
          </a:p>
          <a:p>
            <a:r>
              <a:t>· index.html com 234.737 bytes; 47 arquivos em js/ e 22 em css/</a:t>
            </a:r>
          </a:p>
          <a:p>
            <a:r>
              <a:t>Duração: 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Era 2 · O franqueado no celular — Prévia viva no celular.</a:t>
            </a:r>
          </a:p>
          <a:p>
            <a:r>
              <a:t>Por que entrou: Fecha a sequência de mobile do dia (refinos rodada 1, varredura rodada 2, prévia viva). É o ponto em que o celular deixa de ser adaptação e vira gesto próprio.</a:t>
            </a:r>
          </a:p>
          <a:p>
            <a:r>
              <a:t>· Antecedido por 'Mobile (franqueado): refinos de UI/UX' e 'varredura completa de telas — rodada 2'</a:t>
            </a:r>
          </a:p>
          <a:p>
            <a:r>
              <a:t>· PWA instalável e casca desktop (.exe/DMG) entram no mesmo dia</a:t>
            </a:r>
          </a:p>
          <a:p>
            <a:r>
              <a:t>Duração: 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Era 3 · Catálogo vivo — A vitrine passa a ser gerida pelo banco.</a:t>
            </a:r>
          </a:p>
          <a:p>
            <a:r>
              <a:t>Por que entrou: Mudança estrutural de produto: a vitrine deixa de ser lista fixa em código e passa a refletir o que o time cria no Estúdio, sem deploy.</a:t>
            </a:r>
          </a:p>
          <a:p>
            <a:r>
              <a:t>· No mesmo lote: convite de membro real por Edge Function e persistência de perfil no banco</a:t>
            </a:r>
          </a:p>
          <a:p>
            <a:r>
              <a:t>· A 'Fase 2' do seam de campanhas continua em 18/07 com 40b2587 e 8826c9e</a:t>
            </a:r>
          </a:p>
          <a:p>
            <a:r>
              <a:t>Duração: 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Era 4 · Endurecimento — Endurecimento: segurança, sync e PSD.</a:t>
            </a:r>
          </a:p>
          <a:p>
            <a:r>
              <a:t>Por que entrou: Último commit do bloco 17–20/07, que é inteiro de robustez: z-order do PSD, raster adaptativo, gate de conta desativada, XSS residuais, fim dos 'sucessos falsos' e franqueado que gravava base64 no banco.</a:t>
            </a:r>
          </a:p>
          <a:p>
            <a:r>
              <a:t>· 882cda0 — 'gate de conta desativada, XSS residuais e fim dos sucessos falsos'</a:t>
            </a:r>
          </a:p>
          <a:p>
            <a:r>
              <a:t>· 26e8215 — franqueado deixa de gravar base64 no banco</a:t>
            </a:r>
          </a:p>
          <a:p>
            <a:r>
              <a:t>Duração: 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Era 5 · A 1.0 — 1.0 declarada.</a:t>
            </a:r>
          </a:p>
          <a:p>
            <a:r>
              <a:t>Por que entrou: É o único marco declarado pelo próprio dono do produto, não inferido por nós. Fecha o ciclo de 22/07, que foi só planejamento no luma-brain (roadmap, matriz de prioridade e o tema Much+ sendo concebido).</a:t>
            </a:r>
          </a:p>
          <a:p>
            <a:r>
              <a:t>· 22/07 tem 6 commits, todos em luma-brain/ — planejamento, nenhuma tela alterada</a:t>
            </a:r>
          </a:p>
          <a:p>
            <a:r>
              <a:t>· 5067bd2 e f1984dc registram o tema Much+ ANTES de ele existir em código</a:t>
            </a:r>
          </a:p>
          <a:p>
            <a:r>
              <a:t>Duração: 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Era 6 · Recursos inteligentes — A camada de IA.</a:t>
            </a:r>
          </a:p>
          <a:p>
            <a:r>
              <a:t>Por que entrou: Fecha a manhã de 30/07, em que a IA entra como camada de produto e não como truque isolado: um motor único (js/core/ai.js) com Edge Function, atendendo cinco recursos.</a:t>
            </a:r>
          </a:p>
          <a:p>
            <a:r>
              <a:t>· fc36ae4 — tubulação única de IA + encaixar texto no limite + legenda melhor</a:t>
            </a:r>
          </a:p>
          <a:p>
            <a:r>
              <a:t>· 13279fe — ajuda responde aterrada na Central de Ajuda e cala quando não sabe</a:t>
            </a:r>
          </a:p>
          <a:p>
            <a:r>
              <a:t>Duração: 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Era 7 · Ferramenta interna — Luma CLI — o console do time.</a:t>
            </a:r>
          </a:p>
          <a:p>
            <a:r>
              <a:t>Por que entrou: Primeira superfície do produto voltada pra quem MANTÉM o Luma, não pra quem usa. Nasceu de um incidente real de sync que era diagnosticado colando snippet no DevTools.</a:t>
            </a:r>
          </a:p>
          <a:p>
            <a:r>
              <a:t>· Gate por role é de UX; a fronteira de segurança continua sendo a RLS</a:t>
            </a:r>
          </a:p>
          <a:p>
            <a:r>
              <a:t>· Comandos: ajuda, diag, sync, pastas, cache, ia, modelo, limpar, sair</a:t>
            </a:r>
          </a:p>
          <a:p>
            <a:r>
              <a:t>Duração: 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Era 8 · Acabamento — Estado atual.</a:t>
            </a:r>
          </a:p>
          <a:p>
            <a:r>
              <a:t>Por que entrou: Ponta da branch padrão. Últimos 6 commits do dia são de acabamento: mascote do CLI, revisão de UI/UX com contraste medido, tema Much+ contido e o script que torna esta apresentação reproduzível.</a:t>
            </a:r>
          </a:p>
          <a:p>
            <a:r>
              <a:t>· 9c1a83b — revisão de UI/UX do CLI com contraste medido no Chromium</a:t>
            </a:r>
          </a:p>
          <a:p>
            <a:r>
              <a:t>· 7f0c1ea e da629be — tema Much+ deixa de inundar o card e vira acento</a:t>
            </a:r>
          </a:p>
          <a:p>
            <a:r>
              <a:t>Duração: 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Divisor. Avise que daqui pra frente é sempre a mesma leitura: esquerda é antes, direita é hoje, e a frase embaixo diz o que o usuário ganhou.</a:t>
            </a:r>
          </a:p>
          <a:p>
            <a:r>
              <a:t>Duração: 15s.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mudança mais visível de todas. No piloto não existe "início": o app abre com o assistente já perguntando.</a:t>
            </a:r>
          </a:p>
          <a:p>
            <a:r>
              <a:t>Repare também na paleta — o piloto é vermelho/laranja escuro; hoje é o laranja da marca sobre papel claro.</a:t>
            </a:r>
          </a:p>
          <a:p>
            <a:r>
              <a:t>Se perguntarem por que mudou: uma tela de entrada é o que permite ter destaque, busca e histórico. Sem ela, cada um desses recursos não teria onde morar.</a:t>
            </a:r>
          </a:p>
          <a:p>
            <a:r>
              <a:t>Duração: 1min20.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importante pra dar crédito ao piloto. O chat guiado não foi invenção posterior: já estava lá, com sugestões clicáveis e contador de passos.</a:t>
            </a:r>
          </a:p>
          <a:p>
            <a:r>
              <a:t>A evolução foi de contexto, não de mecânica.</a:t>
            </a:r>
          </a:p>
          <a:p>
            <a:r>
              <a:t>Duração: 1min.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Cuidado pra não vender demais: o canvas do piloto já era completo. A diferença é organizacional, não de capacidade de desenho.</a:t>
            </a:r>
          </a:p>
          <a:p>
            <a:r>
              <a:t>Duração: 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houver franqueado na sala, este é o slide que fala com ele: o uso real acontece no celular.</a:t>
            </a:r>
          </a:p>
          <a:p>
            <a:r>
              <a:t>Os três commits: 'Mobile (franqueado): refinos de UI/UX', 'varredura completa de telas — rodada 2' e 'prévia viva — miniatura PiP, pinça pra zoom e swipe pra fechar'.</a:t>
            </a:r>
          </a:p>
          <a:p>
            <a:r>
              <a:t>Duração: 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sem "antes", e isso é o ponto: o produto passou a ter ferramenta interna própria.</a:t>
            </a:r>
          </a:p>
          <a:p>
            <a:r>
              <a:t>A origem é concreta — o incidente de "30 pastas no banco e 0 templates", diagnosticado colando snippet no DevTools. O CLI transformou aquele conhecimento em comando nomeado.</a:t>
            </a:r>
          </a:p>
          <a:p>
            <a:r>
              <a:t>Ressalte a última linha se houver alguém de segurança na sala.</a:t>
            </a:r>
          </a:p>
          <a:p>
            <a:r>
              <a:t>Duração: 1min.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Divisor. Este bloco é o mais útil pra quem vai usar o Luma amanhã: é literalmente um mapa.</a:t>
            </a:r>
          </a:p>
          <a:p>
            <a:r>
              <a:t>Duração: 12s.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Atlas de Vitrine do franqueado.</a:t>
            </a:r>
          </a:p>
          <a:p>
            <a:r>
              <a:t>1. Campanha em destaque — Entrar → primeira coisa na tela. O franqueado não precisa escolher entre 17 campanhas pra começar.</a:t>
            </a:r>
          </a:p>
          <a:p>
            <a:r>
              <a:t>2. Busca de campanha — Vitrine → campo de busca. Encurta o caminho quando já se sabe o que quer.</a:t>
            </a:r>
          </a:p>
          <a:p>
            <a:r>
              <a:t>3. Minhas artes — Vitrine → cabeçalho → Minhas artes. Trabalho começado não se perde entre sessões.</a:t>
            </a:r>
          </a:p>
          <a:p>
            <a:r>
              <a:t>4. Alternador Franqueado / Designer — Topbar → Designer. Um app só atende os dois papéis, sem login separado.</a:t>
            </a:r>
          </a:p>
          <a:p>
            <a:r>
              <a:t>Os contornos não foram desenhados no olho: a posição de cada caixa foi medida no DOM da versão atual.</a:t>
            </a:r>
          </a:p>
          <a:p>
            <a:r>
              <a:t>Duração: 1min.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Atlas de Campanha aberta.</a:t>
            </a:r>
          </a:p>
          <a:p>
            <a:r>
              <a:t>1. Materiais da campanha — Vitrine → campanha. Mostra o que existe antes de pedir qualquer coisa.</a:t>
            </a:r>
          </a:p>
          <a:p>
            <a:r>
              <a:t>2. Prévia ao vivo — Campanha → coluna da direita. Erro é visto na hora, não depois do download.</a:t>
            </a:r>
          </a:p>
          <a:p>
            <a:r>
              <a:t>3. Rail de campanhas — Sempre visível à esquerda dentro da campanha. Trocar de campanha não custa uma volta ao início.</a:t>
            </a:r>
          </a:p>
          <a:p>
            <a:r>
              <a:t>Os contornos não foram desenhados no olho: a posição de cada caixa foi medida no DOM da versão atual.</a:t>
            </a:r>
          </a:p>
          <a:p>
            <a:r>
              <a:t>Duração: 1min.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Atlas de Estúdio do designer.</a:t>
            </a:r>
          </a:p>
          <a:p>
            <a:r>
              <a:t>1. Biblioteca de templates — Topbar → Designer. O designer retoma o trabalho sem procurar arquivo.</a:t>
            </a:r>
          </a:p>
          <a:p>
            <a:r>
              <a:t>Os contornos não foram desenhados no olho: a posição de cada caixa foi medida no DOM da versão atual.</a:t>
            </a:r>
          </a:p>
          <a:p>
            <a:r>
              <a:t>Duração: 1min.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Atlas de Luma CLI.</a:t>
            </a:r>
          </a:p>
          <a:p>
            <a:r>
              <a:t>1. Console do time — Ctrl+` no desktop · painel de perfil no celular. O que era snippet colado no DevTools virou comando repetível.</a:t>
            </a:r>
          </a:p>
          <a:p>
            <a:r>
              <a:t>2. Conversa com a IA no terminal — CLI → qualquer frase que não seja comando. Investigar deixa de exigir decorar comando.</a:t>
            </a:r>
          </a:p>
          <a:p>
            <a:r>
              <a:t>Os contornos não foram desenhados no olho: a posição de cada caixa foi medida no DOM da versão atual.</a:t>
            </a:r>
          </a:p>
          <a:p>
            <a:r>
              <a:t>Duração: 1min.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slide dos números. Todos foram contados no repositório — nenhum é estimativa.</a:t>
            </a:r>
          </a:p>
          <a:p>
            <a:r>
              <a:t>O contraste mais forte é o do backend: o piloto rodava inteiro no navegador, sem banco. Hoje há Postgres com RLS, Storage e Edge Functions.</a:t>
            </a:r>
          </a:p>
          <a:p>
            <a:r>
              <a:t>Se perguntarem sobre adoção ou uso, seja direto: **esses números não existem aqui**. O repositório mede código, não usuários.</a:t>
            </a:r>
          </a:p>
          <a:p>
            <a:r>
              <a:t>Duração: 1min20.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slide que responde "o produto amadureceu em quê, exatamente".</a:t>
            </a:r>
          </a:p>
          <a:p>
            <a:r>
              <a:t>Cada item tem lastro no histórico — vale citar o incidente do sync (item 2) e a rotação da chave do Gemini pra Edge Function (item 4).</a:t>
            </a:r>
          </a:p>
          <a:p>
            <a:r>
              <a:t>Duração: 1min30.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Panorama. Não descreva tela por tela — deixe a imagem falar e diga só que tudo aqui foi capturado da mesma versão, no mesmo dia.</a:t>
            </a:r>
          </a:p>
          <a:p>
            <a:r>
              <a:t>Duração: 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slide de auditoria. O número que mais importa é o último: zero reconstruções. Tudo que está na apresentação é execução real.</a:t>
            </a:r>
          </a:p>
          <a:p>
            <a:r>
              <a:t>Se alguém quiser conferir qualquer imagem, o índice de evidências dá commit, data, cena e viewport de cada uma.</a:t>
            </a:r>
          </a:p>
          <a:p>
            <a:r>
              <a:t>Duração: 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Fechamento. A frase de efeito tem lastro: o chat guiado do piloto continua sendo o centro do produto — o que mudou foi tudo em volta.</a:t>
            </a:r>
          </a:p>
          <a:p>
            <a:r>
              <a:t>Termine convidando: a apresentação se regenera com um comando, então ela acompanha o produto em vez de envelhecer.</a:t>
            </a:r>
          </a:p>
          <a:p>
            <a:r>
              <a:t>Duração: 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