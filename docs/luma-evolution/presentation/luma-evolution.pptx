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O título entrega a tese: isto não é changelog, é a passagem de um piloto para um produto.</a:t>
            </a:r>
          </a:p>
          <a:p>
            <a:r>
              <a:t>Diga de saída que **nada aqui é mockup** — toda imagem é uma execução real de uma versão que voltou a rodar.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Contrato com a plateia. O terceiro item é o mais importante: a apresentação separa fato de leitura.</a:t>
            </a:r>
          </a:p>
          <a:p>
            <a:r>
              <a:t>Se alguém perguntar "de onde saiu esse número", a resposta está no índice de evidências.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ancora tudo. O piloto **roda** — não é screenshot de arquivo morto, é o HTML executado agora.</a:t>
            </a:r>
          </a:p>
          <a:p>
            <a:r>
              <a:t>Dois detalhes que valem falar: a fonte 'Realce Black' já vinha embutida em base64 dentro do próprio HTML, e a convenção de prefixos do código de hoje nasceu aqui — 148 funções `d*`, 78 `f*` e 4 `g*`, contra 697/234/140 na versão atual. O mesmo idioma, vinte vezes maior.</a:t>
            </a:r>
          </a:p>
          <a:p>
            <a:r>
              <a:t>Repare que não há tela de entrada: o app abre com o assistente já perguntando.</a:t>
            </a:r>
          </a:p>
          <a:p>
            <a:r>
              <a:t>~1min.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integridade. Se a plateia lê "71 commits" como o tamanho do projeto, corrija: é o tamanho do **histórico versionado**, não do trabalho.</a:t>
            </a:r>
          </a:p>
          <a:p>
            <a:r>
              <a:t>As duas raízes órfãs (74d31b5 e df0c056) indicam que o repositório foi montado a partir de trabalho que já existia.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Divisor. Diga a regra de escolha: o commit entrou porque mudou o que se vê ou o que se pode fazer — não porque é recente.</a:t>
            </a:r>
          </a:p>
          <a:p>
            <a:r>
              <a:t>~12s.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da esquerda pra direita sem se demorar — cada marco tem slide próprio depois.</a:t>
            </a:r>
          </a:p>
          <a:p>
            <a:r>
              <a:t>O que importa aqui é a forma: um piloto, um dia de fundação enorme (16/07 concentra metade dos commits), duas semanas de refino e um salto de capacidade no último dia.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do git — Piloto Yungas — Módulo de Artes.</a:t>
            </a:r>
          </a:p>
          <a:p>
            <a:r>
              <a:t>Por que entrou: É a única evidência do produto ANTES do git. As duas raízes do repositório já contêm o app inteiro, então sem este arquivo a pergunta "como o Luma começou?" não teria resposta com evidência.</a:t>
            </a:r>
          </a:p>
          <a:p>
            <a:r>
              <a:t>· Chamava-se "Yungas · Módulo de Artes · Delivery Much" — o nome Luma ainda não existia</a:t>
            </a:r>
          </a:p>
          <a:p>
            <a:r>
              <a:t>· 1 arquivo HTML, 565.693 bytes, 9.316 linhas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preservada — O que o git preserva como ponto de partida.</a:t>
            </a:r>
          </a:p>
          <a:p>
            <a:r>
              <a:t>Por que entrou: Commit mais antigo por data-hora do repositório (16/07, 10:33). Já traz 285 arquivos e um index.html de 234.737 bytes — o git começa com o produto pronto, não com o começo dele.</a:t>
            </a:r>
          </a:p>
          <a:p>
            <a:r>
              <a:t>· 285 arquivos versionados já no commit mais antigo</a:t>
            </a:r>
          </a:p>
          <a:p>
            <a:r>
              <a:t>· index.html com 234.737 bytes; 47 arquivos em js/ e 22 em css/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franqueado no celular — A arte dentro do celular.</a:t>
            </a:r>
          </a:p>
          <a:p>
            <a:r>
              <a:t>Por que entrou: Fecha a sequência de mockup do dia. O franqueado deixa de ver um arquivo e passa a ver como a arte fica publicada — que é a pergunta que ele realmente tem.</a:t>
            </a:r>
          </a:p>
          <a:p>
            <a:r>
              <a:t>· Precedido por "Mockup: prévia da arte no celular (Stories, Feed, WhatsApp)"</a:t>
            </a:r>
          </a:p>
          <a:p>
            <a:r>
              <a:t>· E por "Mockup: silhueta do iPhone 17 Pro Max (padrão premium)"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Catálogo vivo — A vitrine passa a ser gerida pelo banco.</a:t>
            </a:r>
          </a:p>
          <a:p>
            <a:r>
              <a:t>Por que entrou: Mudança estrutural de produto: a vitrine deixa de ser lista fixa em código e passa a refletir o que o time cria no Estúdio, sem deploy.</a:t>
            </a:r>
          </a:p>
          <a:p>
            <a:r>
              <a:t>· No mesmo lote: convite de membro real por Edge Function e perfil persistido no banco</a:t>
            </a:r>
          </a:p>
          <a:p>
            <a:r>
              <a:t>· A "Fase 2" do seam de campanhas continua em 18/07 com 40b2587 e 8826c9e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Endurecimento — Endurecimento: segurança, sync e PSD.</a:t>
            </a:r>
          </a:p>
          <a:p>
            <a:r>
              <a:t>Por que entrou: Último commit do bloco 17–20/07, que é inteiro de robustez: z-order do PSD, raster adaptativo, gate de conta desativada, XSS residuais e fim dos "sucessos falsos".</a:t>
            </a:r>
          </a:p>
          <a:p>
            <a:r>
              <a:t>· 882cda0 — gate de conta desativada, XSS residuais e fim dos sucessos falsos</a:t>
            </a:r>
          </a:p>
          <a:p>
            <a:r>
              <a:t>· 26e8215 — franqueado deixa de gravar base64 no banco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1.0 — 1.0 declarada.</a:t>
            </a:r>
          </a:p>
          <a:p>
            <a:r>
              <a:t>Por que entrou: É o único marco declarado pelo próprio dono do produto, não inferido por nós. Fecha o ciclo de 22/07, que foi só planejamento no luma-brain.</a:t>
            </a:r>
          </a:p>
          <a:p>
            <a:r>
              <a:t>· 22/07 tem 6 commits, todos em luma-brain/ — planejamento, nenhuma tela alterada</a:t>
            </a:r>
          </a:p>
          <a:p>
            <a:r>
              <a:t>· 5067bd2 e f1984dc registram o tema Much+ ANTES de ele existir em código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Recursos inteligentes — A camada de IA.</a:t>
            </a:r>
          </a:p>
          <a:p>
            <a:r>
              <a:t>Por que entrou: Fecha a manhã de 30/07 (10:50 às 11:05), em que a IA entra como camada de produto e não como truque isolado: um motor único com Edge Function, atendendo vários recursos.</a:t>
            </a:r>
          </a:p>
          <a:p>
            <a:r>
              <a:t>· fc36ae4 (10:50) — tubulação única de IA + encaixar texto no limite</a:t>
            </a:r>
          </a:p>
          <a:p>
            <a:r>
              <a:t>· 13279fe (10:55) — ajuda responde aterrada na Central de Ajuda e cala quando não sabe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Ferramenta interna — Luma CLI — o console do time.</a:t>
            </a:r>
          </a:p>
          <a:p>
            <a:r>
              <a:t>Por que entrou: Primeira superfície do produto voltada pra quem MANTÉM o Luma, não pra quem usa. Nasceu de um incidente real de sync que era diagnosticado colando snippet no DevTools.</a:t>
            </a:r>
          </a:p>
          <a:p>
            <a:r>
              <a:t>· c9790e8 (11:27) — o console nasce com IA, banner em pixel art e os dois temas</a:t>
            </a:r>
          </a:p>
          <a:p>
            <a:r>
              <a:t>· e48b7ff (11:41) — chega ao celular, com entrada escondida no painel de perfil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Acabamento — Estado atual.</a:t>
            </a:r>
          </a:p>
          <a:p>
            <a:r>
              <a:t>Por que entrou: Ponta da branch. Os últimos commits do dia são de acabamento: mascote do CLI, revisão de UI/UX com contraste medido, tema Much+ contido e o script que torna esta apresentação reproduzível.</a:t>
            </a:r>
          </a:p>
          <a:p>
            <a:r>
              <a:t>· 9c1a83b — revisão de UI/UX do CLI com contraste medido no Chromium</a:t>
            </a:r>
          </a:p>
          <a:p>
            <a:r>
              <a:t>· 7f0c1ea e da629be — tema Much+ deixa de inundar o card e vira acento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Divisor. Avise que daqui pra frente a leitura é sempre a mesma: esquerda é antes, direita é hoje, e a frase embaixo diz o que o usuário ganhou.</a:t>
            </a:r>
          </a:p>
          <a:p>
            <a:r>
              <a:t>~12s.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mudança mais visível de todas. No piloto não existe "início": o app abre com o assistente já na pergunta 1 de 4.</a:t>
            </a:r>
          </a:p>
          <a:p>
            <a:r>
              <a:t>Repare também na paleta — o piloto é vermelho; hoje é o laranja da marca sobre papel claro.</a:t>
            </a:r>
          </a:p>
          <a:p>
            <a:r>
              <a:t>Se perguntarem por que mudou: a tela de entrada é o que permite ter destaque, busca e histórico. Sem ela, nenhum desses recursos teria onde morar.</a:t>
            </a:r>
          </a:p>
          <a:p>
            <a:r>
              <a:t>~1min20.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que dá crédito ao piloto. O chat guiado não foi invenção posterior: já estava lá, com sugestões clicáveis e contador de passos.</a:t>
            </a:r>
          </a:p>
          <a:p>
            <a:r>
              <a:t>A evolução foi de contexto, não de mecânica.</a:t>
            </a:r>
          </a:p>
          <a:p>
            <a:r>
              <a:t>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Cuidado pra não vender demais: a diferença aqui é organizacional, não de capacidade de desenho.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houver franqueado na sala, este slide fala com ele: o uso real acontece no celular.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sem "antes", e isso é o ponto: o produto passou a ter ferramenta interna própria.</a:t>
            </a:r>
          </a:p>
          <a:p>
            <a:r>
              <a:t>A origem é concreta — o incidente de "pastas no banco e nenhum template aparecendo", diagnosticado colando snippet no DevTools. O CLI transformou aquele conhecimento em comando nomeado.</a:t>
            </a:r>
          </a:p>
          <a:p>
            <a:r>
              <a:t>Ressalte a última linha se houver alguém de segurança na sala.</a:t>
            </a:r>
          </a:p>
          <a:p>
            <a:r>
              <a:t>~1min.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slide dos números. Todos foram contados no repositório na hora em que a apresentação foi gerada — nenhum é estimativa.</a:t>
            </a:r>
          </a:p>
          <a:p>
            <a:r>
              <a:t>O contraste mais forte é o do backend: o piloto rodava inteiro no navegador, sem banco. Hoje há Postgres com RLS, Storage e Edge Functions.</a:t>
            </a:r>
          </a:p>
          <a:p>
            <a:r>
              <a:t>O último card é o que mais surpreende engenheiro: cresceu tudo isso **sem** adotar framework nem build.</a:t>
            </a:r>
          </a:p>
          <a:p>
            <a:r>
              <a:t>Se perguntarem sobre adoção ou uso, seja direto: **esses números não existem aqui**. O repositório mede código, não usuários.</a:t>
            </a:r>
          </a:p>
          <a:p>
            <a:r>
              <a:t>~1min20.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slide que responde "o produto amadureceu em quê, exatamente".</a:t>
            </a:r>
          </a:p>
          <a:p>
            <a:r>
              <a:t>Cada item tem lastro no histórico — vale citar o incidente do sync (item 2) e a rotação da chave do Gemini pra Edge Function (item 4).</a:t>
            </a:r>
          </a:p>
          <a:p>
            <a:r>
              <a:t>O item 5 é meta: a ferramenta que reabre versões antigas é a mesma que gerou esta apresentação.</a:t>
            </a:r>
          </a:p>
          <a:p>
            <a:r>
              <a:t>~1min20.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Panorama. Não descreva tela por tela — deixe a imagem falar e diga só que tudo aqui saiu da mesma versão, no mesmo dia.</a:t>
            </a:r>
          </a:p>
          <a:p>
            <a:r>
              <a:t>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slide de auditoria. Os dois últimos números são os que importam: zero reconstruções e zero alterações no código do produto.</a:t>
            </a:r>
          </a:p>
          <a:p>
            <a:r>
              <a:t>Se alguém quiser conferir qualquer imagem, o índice de evidências dá commit, data, cena e viewport de cada uma — e cada PNG tem um JSON irmão com esses metadados.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Fechamento. A frase tem lastro: o chat guiado do piloto continua sendo o centro do produto — o que mudou foi tudo em volta.</a:t>
            </a:r>
          </a:p>
          <a:p>
            <a:r>
              <a:t>Termine convidando: a apresentação se regenera com um comando, então ela acompanha o produto em vez de envelhecer.</a:t>
            </a:r>
          </a:p>
          <a:p>
            <a:r>
              <a:t>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