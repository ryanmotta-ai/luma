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Abertura. Diga a tese: não é changelog, é a passagem de uma necessidade interna para um produto.</a:t>
            </a:r>
          </a:p>
          <a:p>
            <a:r>
              <a:t>E diga de saída que nada aqui é mockup — toda imagem é uma execução real de uma versão que voltou a rodar.</a:t>
            </a:r>
          </a:p>
          <a:p>
            <a:r>
              <a:t>~40s.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Contrato com a plateia. Os itens 4 e 5 são os que interessam a quem vai usar o Luma amanhã.</a:t>
            </a:r>
          </a:p>
          <a:p>
            <a:r>
              <a:t>~35s.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arquivo **roda** — é o HTML original executado agora, não um print de arquivo morto.</a:t>
            </a:r>
          </a:p>
          <a:p>
            <a:r>
              <a:t>Seja honesto na origem: o git guarda o começo do Luma, mas não guarda este arquivo. Ele é anterior a 16/06, quando o repositório já nasce com o nome Luma e 85 módulos.</a:t>
            </a:r>
          </a:p>
          <a:p>
            <a:r>
              <a:t>A convenção de prefixos do código de hoje nasceu aqui.</a:t>
            </a:r>
          </a:p>
          <a:p>
            <a:r>
              <a:t>~50s.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elo perdido da apresentação. Estas duas telas estão a poucos dias uma da outra e mostram a mesma coisa com outra identidade.</a:t>
            </a:r>
          </a:p>
          <a:p>
            <a:r>
              <a:t>Repare nas campanhas: Combo Smash, Hamburguer Fest, Frete Grátis — idênticas nas duas.</a:t>
            </a:r>
          </a:p>
          <a:p>
            <a:r>
              <a:t>O que mudou entre uma e outra não foi a interface: foi a arquitetura, de um arquivo para oitenta e cinco.</a:t>
            </a:r>
          </a:p>
          <a:p>
            <a:r>
              <a:t>~50s.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 marcos escolhidos por diferença visual clara — não por serem recentes.</a:t>
            </a:r>
          </a:p>
          <a:p>
            <a:r>
              <a:t>O histórico cobre 45 dias e 240 commits. Chame atenção para os saltos: junho inteiro cabe entre os dois primeiros pontos, e 15 e 16/07 sozinhos concentram 45% de tudo.</a:t>
            </a:r>
          </a:p>
          <a:p>
            <a:r>
              <a:t>~50s.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forma do trabalho num quadro só. Dois dias — 15 e 16 de julho — são 108 dos 240 commits: é a semana em que o produto virou o que é hoje.</a:t>
            </a:r>
          </a:p>
          <a:p>
            <a:r>
              <a:t>As colunas tracejadas são calendário vazio, não desistência: a maior é a pausa de sete dias entre 29/06 e 07/07.</a:t>
            </a:r>
          </a:p>
          <a:p>
            <a:r>
              <a:t>Deixe a plateia varrer as faixas na horizontal — dá pra ver o foco mudar de área ao longo do tempo.</a:t>
            </a:r>
          </a:p>
          <a:p>
            <a:r>
              <a:t>~1min.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Página 1 de 6 do histórico completo. Não leia em voz alta — está aqui para quem quiser conferir depois.</a:t>
            </a:r>
          </a:p>
          <a:p>
            <a:r>
              <a:t>Se alguém perguntar por um commit específico, é nestes slides que ele está.</a:t>
            </a:r>
          </a:p>
          <a:p>
            <a:r>
              <a:t>~15s.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Página 2 de 6 do histórico completo. Não leia em voz alta — está aqui para quem quiser conferir depois.</a:t>
            </a:r>
          </a:p>
          <a:p>
            <a:r>
              <a:t>Se alguém perguntar por um commit específico, é nestes slides que ele está.</a:t>
            </a:r>
          </a:p>
          <a:p>
            <a:r>
              <a:t>~15s.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Página 3 de 6 do histórico completo. Não leia em voz alta — está aqui para quem quiser conferir depois.</a:t>
            </a:r>
          </a:p>
          <a:p>
            <a:r>
              <a:t>Se alguém perguntar por um commit específico, é nestes slides que ele está.</a:t>
            </a:r>
          </a:p>
          <a:p>
            <a:r>
              <a:t>~15s.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Página 4 de 6 do histórico completo. Não leia em voz alta — está aqui para quem quiser conferir depois.</a:t>
            </a:r>
          </a:p>
          <a:p>
            <a:r>
              <a:t>Se alguém perguntar por um commit específico, é nestes slides que ele está.</a:t>
            </a:r>
          </a:p>
          <a:p>
            <a:r>
              <a:t>~15s.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Página 5 de 6 do histórico completo. Não leia em voz alta — está aqui para quem quiser conferir depois.</a:t>
            </a:r>
          </a:p>
          <a:p>
            <a:r>
              <a:t>Se alguém perguntar por um commit específico, é nestes slides que ele está.</a:t>
            </a:r>
          </a:p>
          <a:p>
            <a:r>
              <a:t>~15s.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Página 6 de 6 do histórico completo. Não leia em voz alta — está aqui para quem quiser conferir depois.</a:t>
            </a:r>
          </a:p>
          <a:p>
            <a:r>
              <a:t>Se alguém perguntar por um commit específico, é nestes slides que ele está.</a:t>
            </a:r>
          </a:p>
          <a:p>
            <a:r>
              <a:t>~15s.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Divisor do bloco principal. Diga a regra de leitura uma vez: esquerda é o primeiro commit, meio é a véspera da 1.0, direita é hoje.</a:t>
            </a:r>
          </a:p>
          <a:p>
            <a:r>
              <a:t>A coluna do meio é a que mais informa — repare quantas vezes ela é igual à primeira.</a:t>
            </a:r>
          </a:p>
          <a:p>
            <a:r>
              <a:t>~15s.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Comece por aqui se tiver pouco tempo: é a comparação mais imediata da apresentação.</a:t>
            </a:r>
          </a:p>
          <a:p>
            <a:r>
              <a:t>Repare que as artes na coluna esquerda são materiais reais do catálogo, não ilustração.</a:t>
            </a:r>
          </a:p>
          <a:p>
            <a:r>
              <a:t>~50s.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comparação mais reveladora do bloco. O quadro da esquerda é 16/06: o Luma no dia em que entrou no git, com o layout herdado do piloto e só a cor trocada.</a:t>
            </a:r>
          </a:p>
          <a:p>
            <a:r>
              <a:t>A vitrine aparece em julho — foi ela que deu onde morar ao destaque, à busca e ao histórico.</a:t>
            </a:r>
          </a:p>
          <a:p>
            <a:r>
              <a:t>~50s.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quadro da esquerda é honesto sobre o estágio de junho: a estrutura existia, o conteúdo não.</a:t>
            </a:r>
          </a:p>
          <a:p>
            <a:r>
              <a:t>Cada capa que aparece à direita foi publicada sem passar pela engenharia — é o efeito de 247bcd4.</a:t>
            </a:r>
          </a:p>
          <a:p>
            <a:r>
              <a:t>~50s.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para mostrar contenção: a tela mais importante do produto ficou com MENOS elementos, não mais.</a:t>
            </a:r>
          </a:p>
          <a:p>
            <a:r>
              <a:t>~50s.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slide mais forte do bloco, e agora com o estágio que faltava: em junho o Estúdio era só o canvas — abria com a prancheta preta e as ferramentas em volta.</a:t>
            </a:r>
          </a:p>
          <a:p>
            <a:r>
              <a:t>A home aparece em julho; a biblioteca com busca e status, só no fim.</a:t>
            </a:r>
          </a:p>
          <a:p>
            <a:r>
              <a:t>~1min.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Diferença pequena na tela, grande no processo. Antes, sair do Luma era achatar a arte.</a:t>
            </a:r>
          </a:p>
          <a:p>
            <a:r>
              <a:t>Complementa o import de PSD que já existia: agora o caminho é de ida e volta.</a:t>
            </a:r>
          </a:p>
          <a:p>
            <a:r>
              <a:t>~40s.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honesto e importante. Se todas as telas mudassem muito, a apresentação estaria contando a história errada.</a:t>
            </a:r>
          </a:p>
          <a:p>
            <a:r>
              <a:t>Esta chegou certa no primeiro dia. O trabalho foi fazer o dado sobreviver por trás dela.</a:t>
            </a:r>
          </a:p>
          <a:p>
            <a:r>
              <a:t>~45s.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bom para quem cuida de acesso. O selo DEV ao lado de Console é a entrada do Luma CLI aparecendo na interface — antes era só atalho de teclado.</a:t>
            </a:r>
          </a:p>
          <a:p>
            <a:r>
              <a:t>~50s.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miniatura flutuante é a "prévia viva" de 16/07 chegando ao chat: no celular, ver a arte enquanto responde é a diferença entre confiar e conferir depois.</a:t>
            </a:r>
          </a:p>
          <a:p>
            <a:r>
              <a:t>Repare que aqui a coluna do meio JÁ difere da primeira — é a exceção no bloco.</a:t>
            </a:r>
          </a:p>
          <a:p>
            <a:r>
              <a:t>~45s.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 houver franqueado na sala, este slide fala com ele: o uso real acontece no celular.</a:t>
            </a:r>
          </a:p>
          <a:p>
            <a:r>
              <a:t>~35s.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sem "antes", e é esse o ponto: o produto passou a ter ferramenta interna própria.</a:t>
            </a:r>
          </a:p>
          <a:p>
            <a:r>
              <a:t>O conhecimento que morava na cabeça de quem debugava virou comando nomeado.</a:t>
            </a:r>
          </a:p>
          <a:p>
            <a:r>
              <a:t>Ressalte a última linha se houver alguém de segurança na sala.</a:t>
            </a:r>
          </a:p>
          <a:p>
            <a:r>
              <a:t>~50s.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de design system, e o achado aqui é o contrário do esperado: as duas últimas faixas são quase idênticas.</a:t>
            </a:r>
          </a:p>
          <a:p>
            <a:r>
              <a:t>Isso é a mensagem. A identidade se resolveu cedo e não precisou de retoque, enquanto o resto do produto quadruplicou de tamanho.</a:t>
            </a:r>
          </a:p>
          <a:p>
            <a:r>
              <a:t>Se alguém perguntar por que não mostrar mais versões: porque não há diferença para mostrar.</a:t>
            </a:r>
          </a:p>
          <a:p>
            <a:r>
              <a:t>~45s.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é o recorte que melhor mostra intenção de produto: o texto "Qual arte vamos criar hoje?" não é enfeite, é o que transforma uma tela de lista numa tela de decisão.</a:t>
            </a:r>
          </a:p>
          <a:p>
            <a:r>
              <a:t>O placeholder da busca traz exemplo real (Sushi, Almoço) em vez de "digite aqui".</a:t>
            </a:r>
          </a:p>
          <a:p>
            <a:r>
              <a:t>~45s.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Recorte que mostra edição, não adição. "Assistente criativo" era o nome interno da feature aparecendo na cara do usuário.</a:t>
            </a:r>
          </a:p>
          <a:p>
            <a:r>
              <a:t>~40s.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Detalhe pequeno com efeito grande em telas menores: com zoom fixo, a prévia ficava cortada em notebook de 13 polegadas.</a:t>
            </a:r>
          </a:p>
          <a:p>
            <a:r>
              <a:t>~35s.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de copy, e o ponto é que copy é interface. "Dê forma à próxima campanha" soa bem e não diz o que fazer.</a:t>
            </a:r>
          </a:p>
          <a:p>
            <a:r>
              <a:t>~40s.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slide-resumo do bloco. Cada item tem commit e data, então nenhum é impressão.</a:t>
            </a:r>
          </a:p>
          <a:p>
            <a:r>
              <a:t>Se precisar cortar tempo, este slide substitui os sete de tira — mas perde a evidência visual.</a:t>
            </a:r>
          </a:p>
          <a:p>
            <a:r>
              <a:t>~1min10.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Divisor do bloco mais útil para quem vai usar o Luma amanhã: é literalmente um mapa.</a:t>
            </a:r>
          </a:p>
          <a:p>
            <a:r>
              <a:t>~10s.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Criar — Vitrine — por onde se começa.</a:t>
            </a:r>
          </a:p>
          <a:p>
            <a:r>
              <a:t>1. Campanha em destaque — Vitrine → primeiro bloco</a:t>
            </a:r>
          </a:p>
          <a:p>
            <a:r>
              <a:t>2. Busca de campanha — Vitrine → campo de busca</a:t>
            </a:r>
          </a:p>
          <a:p>
            <a:r>
              <a:t>3. Minhas artes — Vitrine → cabeçalho</a:t>
            </a:r>
          </a:p>
          <a:p>
            <a:r>
              <a:t>4. Alternador Franqueado / Designer — Topbar</a:t>
            </a:r>
          </a:p>
          <a:p>
            <a:r>
              <a:t>Os contornos não foram desenhados no olho: cada caixa foi medida com getBoundingClientRect na versão atual.</a:t>
            </a:r>
          </a:p>
          <a:p>
            <a:r>
              <a:t>~50s.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Editar — Campanha aberta — o chat que monta a arte.</a:t>
            </a:r>
          </a:p>
          <a:p>
            <a:r>
              <a:t>1. Chat de preenchimento — Campanha → material → Personalizar</a:t>
            </a:r>
          </a:p>
          <a:p>
            <a:r>
              <a:t>2. Prévia ao vivo — Coluna da direita</a:t>
            </a:r>
          </a:p>
          <a:p>
            <a:r>
              <a:t>3. Campo de resposta — Rodapé do chat</a:t>
            </a:r>
          </a:p>
          <a:p>
            <a:r>
              <a:t>4. Contexto da campanha — Topo do chat</a:t>
            </a:r>
          </a:p>
          <a:p>
            <a:r>
              <a:t>Os contornos não foram desenhados no olho: cada caixa foi medida com getBoundingClientRect na versão atual.</a:t>
            </a:r>
          </a:p>
          <a:p>
            <a:r>
              <a:t>~50s.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Organizar — Estúdio — a casa do designer.</a:t>
            </a:r>
          </a:p>
          <a:p>
            <a:r>
              <a:t>1. Começar do zero ou de um arquivo — Estúdio → Criar material · Photoshop · Illustrator</a:t>
            </a:r>
          </a:p>
          <a:p>
            <a:r>
              <a:t>2. Biblioteca de materiais — Estúdio → Todos os materiais</a:t>
            </a:r>
          </a:p>
          <a:p>
            <a:r>
              <a:t>3. Busca e filtros — Estúdio → topo da biblioteca</a:t>
            </a:r>
          </a:p>
          <a:p>
            <a:r>
              <a:t>4. Pasta de destino — Estúdio → cabeçalho</a:t>
            </a:r>
          </a:p>
          <a:p>
            <a:r>
              <a:t>Os contornos não foram desenhados no olho: cada caixa foi medida com getBoundingClientRect na versão atual.</a:t>
            </a:r>
          </a:p>
          <a:p>
            <a:r>
              <a:t>~50s.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Publicar e exportar — Exportar e publicar.</a:t>
            </a:r>
          </a:p>
          <a:p>
            <a:r>
              <a:t>1. Formato de saída — Exportar → Formato</a:t>
            </a:r>
          </a:p>
          <a:p>
            <a:r>
              <a:t>2. Escala de exportação — Exportar → Escala</a:t>
            </a:r>
          </a:p>
          <a:p>
            <a:r>
              <a:t>Os contornos não foram desenhados no olho: cada caixa foi medida com getBoundingClientRect na versão atual.</a:t>
            </a:r>
          </a:p>
          <a:p>
            <a:r>
              <a:t>~50s.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Manter e diagnosticar — Console do time.</a:t>
            </a:r>
          </a:p>
          <a:p>
            <a:r>
              <a:t>1. Luma CLI — Ctrl+` no desktop · painel de perfil no celular</a:t>
            </a:r>
          </a:p>
          <a:p>
            <a:r>
              <a:t>2. Conversa com a IA — CLI → qualquer frase que não seja comando</a:t>
            </a:r>
          </a:p>
          <a:p>
            <a:r>
              <a:t>Os contornos não foram desenhados no olho: cada caixa foi medida com getBoundingClientRect na versão atual.</a:t>
            </a:r>
          </a:p>
          <a:p>
            <a:r>
              <a:t>~50s.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de design system. As duas imagens são do MESMO commit, no mesmo dia — a diferença é só a campanha aberta.</a:t>
            </a:r>
          </a:p>
          <a:p>
            <a:r>
              <a:t>Isso prova que a troca de tema é por token, não por código duplicado. É o que permite receber uma marca parceira sem fork.</a:t>
            </a:r>
          </a:p>
          <a:p>
            <a:r>
              <a:t>O tema foi concebido no luma-brain em 22/07, antes de existir em código.</a:t>
            </a:r>
          </a:p>
          <a:p>
            <a:r>
              <a:t>~50s.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slide que responde "amadureceu em quê, exatamente".</a:t>
            </a:r>
          </a:p>
          <a:p>
            <a:r>
              <a:t>O item 4 é o mais subestimado: um aviso de sucesso que mente custa mais caro que um erro visível.</a:t>
            </a:r>
          </a:p>
          <a:p>
            <a:r>
              <a:t>O item 5 é meta — a ferramenta que reabre versões antigas é a que gerou esta apresentação.</a:t>
            </a:r>
          </a:p>
          <a:p>
            <a:r>
              <a:t>~1min10.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Panorama 1 de 3: Criar material, Importar PSD, Atalhos do Estúdio.</a:t>
            </a:r>
          </a:p>
          <a:p>
            <a:r>
              <a:t>Não descreva tela por tela — deixe a imagem falar e diga que tudo saiu da mesma versão, no mesmo dia.</a:t>
            </a:r>
          </a:p>
          <a:p>
            <a:r>
              <a:t>~30s.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Panorama 2 de 3: Campanha no celular, , Tema Much+.</a:t>
            </a:r>
          </a:p>
          <a:p>
            <a:r>
              <a:t>Não descreva tela por tela — deixe a imagem falar e diga que tudo saiu da mesma versão, no mesmo dia.</a:t>
            </a:r>
          </a:p>
          <a:p>
            <a:r>
              <a:t>~30s.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Panorama 3 de 3: Vitrine, Estúdio, Console do time.</a:t>
            </a:r>
          </a:p>
          <a:p>
            <a:r>
              <a:t>Não descreva tela por tela — deixe a imagem falar e diga que tudo saiu da mesma versão, no mesmo dia.</a:t>
            </a:r>
          </a:p>
          <a:p>
            <a:r>
              <a:t>~30s.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Todos contados no repositório na hora em que a apresentação foi gerada — nenhum é estimativa.</a:t>
            </a:r>
          </a:p>
          <a:p>
            <a:r>
              <a:t>O último card costuma surpreender engenheiro: cresceu tudo isso **sem** adotar framework nem build.</a:t>
            </a:r>
          </a:p>
          <a:p>
            <a:r>
              <a:t>Se perguntarem sobre adoção ou uso: esses números não existem aqui. O repositório mede código, não usuários.</a:t>
            </a:r>
          </a:p>
          <a:p>
            <a:r>
              <a:t>~1min.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Fechamento. A última oração da frase tem lastro: o produto cresceu vinte vezes e continua sem build, sem framework e sem dependência de runtime.</a:t>
            </a:r>
          </a:p>
          <a:p>
            <a:r>
              <a:t>Termine convidando: a apresentação se regenera com um comando, então acompanha o produto em vez de envelhecer.</a:t>
            </a:r>
          </a:p>
          <a:p>
            <a:r>
              <a:t>~40s.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notesSlide" Target="../notesSlides/notesSlide4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4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