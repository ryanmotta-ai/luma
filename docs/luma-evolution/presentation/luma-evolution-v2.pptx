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Diga a tese: não é changelog, é a passagem de uma necessidade interna para um produto.</a:t>
            </a:r>
          </a:p>
          <a:p>
            <a:r>
              <a:t>E diga de saída que nada aqui é mockup — toda imagem é uma execução real de uma versão que voltou a rodar.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Contrato com a plateia. Os itens 4 e 5 são os que interessam a quem vai usar o Luma amanhã.</a:t>
            </a:r>
          </a:p>
          <a:p>
            <a:r>
              <a:t>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 que ancora tudo. O arquivo **roda** — é o HTML original executado agora, não um print de arquivo morto.</a:t>
            </a:r>
          </a:p>
          <a:p>
            <a:r>
              <a:t>Seja honesto na origem: é a primeira versão **conhecida e preservada**, entregue fora do repositório. Não é o primeiro commit — o git não guarda o começo.</a:t>
            </a:r>
          </a:p>
          <a:p>
            <a:r>
              <a:t>Dois detalhes fortes: a fonte da marca já vinha embutida em base64, e a convenção de prefixos do código de hoje nasceu aqui.</a:t>
            </a:r>
          </a:p>
          <a:p>
            <a:r>
              <a:t>~1min.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marcos escolhidos por diferença visual clara — não por serem recentes.</a:t>
            </a:r>
          </a:p>
          <a:p>
            <a:r>
              <a:t>O histórico versionado é curto: 15 dias, 72 commits, e metade deles no primeiro dia. A forma que importa é: um piloto, uma fundação enorme, duas semanas de refino e um salto de capacidade no fim.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leitura mais direta da apresentação: três execuções reais, mesma tela, três épocas.</a:t>
            </a:r>
          </a:p>
          <a:p>
            <a:r>
              <a:t>Repare na paleta — vermelho na origem, laranja da marca hoje.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que dá crédito à ideia original. O chat guiado não foi invenção posterior.</a:t>
            </a:r>
          </a:p>
          <a:p>
            <a:r>
              <a:t>A evolução foi de contexto, não de mecânica.</a:t>
            </a:r>
          </a:p>
          <a:p>
            <a:r>
              <a:t>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Cuidado para não vender demais: a diferença aqui é organizacional, não de capacidade de desenho.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Divisor. Avise que a leitura daqui pra frente é sempre igual — isso deixa a plateia processar a imagem, não o layout.</a:t>
            </a:r>
          </a:p>
          <a:p>
            <a:r>
              <a:t>~10s.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impacto operacional. Antes, cada campanha nova era um commit; hoje é uma pasta.</a:t>
            </a:r>
          </a:p>
          <a:p>
            <a:r>
              <a:t>O marco dessa virada é 247bcd4, de 16/07.</a:t>
            </a:r>
          </a:p>
          <a:p>
            <a:r>
              <a:t>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vale citar os commits de sync de 16/07: lock no push, releitura antes de regravar e fila de deleções.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comparação aqui começa em 16/07 porque o piloto não tinha esse modal — o que já é a informação.</a:t>
            </a:r>
          </a:p>
          <a:p>
            <a:r>
              <a:t>Em 17/07 entram o z-order confiável do PSD e o raster adaptativo, que é o que torna o export 2× nítido.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houver franqueado na sala, este slide fala com ele: o uso real acontece no celular.</a:t>
            </a:r>
          </a:p>
          <a:p>
            <a:r>
              <a:t>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sem "antes", e é esse o ponto: o produto passou a ter ferramenta interna própria.</a:t>
            </a:r>
          </a:p>
          <a:p>
            <a:r>
              <a:t>O conhecimento que morava na cabeça de quem debugava virou comando nomeado.</a:t>
            </a:r>
          </a:p>
          <a:p>
            <a:r>
              <a:t>Ressalte a última linha se houver alguém de segurança na sala.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do bloco mais útil para quem vai usar o Luma amanhã: é literalmente um mapa.</a:t>
            </a:r>
          </a:p>
          <a:p>
            <a:r>
              <a:t>~10s.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Criar — Vitrine — por onde se começa.</a:t>
            </a:r>
          </a:p>
          <a:p>
            <a:r>
              <a:t>1. Campanha em destaque — Vitrine → primeiro bloco</a:t>
            </a:r>
          </a:p>
          <a:p>
            <a:r>
              <a:t>2. Busca de campanha — Vitrine → campo de busca</a:t>
            </a:r>
          </a:p>
          <a:p>
            <a:r>
              <a:t>3. Minhas artes — Vitrine → cabeçalho</a:t>
            </a:r>
          </a:p>
          <a:p>
            <a:r>
              <a:t>4. Alternador Franqueado / Designer — Topbar</a:t>
            </a:r>
          </a:p>
          <a:p>
            <a:r>
              <a:t>Os contornos não foram desenhados no olho: cada caixa foi medida com getBoundingClientRect na versão atual.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Editar — Campanha aberta — o chat que monta a arte.</a:t>
            </a:r>
          </a:p>
          <a:p>
            <a:r>
              <a:t>1. Chat de preenchimento — Campanha → material → Personalizar</a:t>
            </a:r>
          </a:p>
          <a:p>
            <a:r>
              <a:t>2. Prévia ao vivo — Coluna da direita</a:t>
            </a:r>
          </a:p>
          <a:p>
            <a:r>
              <a:t>3. Campo de resposta — Rodapé do chat</a:t>
            </a:r>
          </a:p>
          <a:p>
            <a:r>
              <a:t>4. Contexto da campanha — Topo do chat</a:t>
            </a:r>
          </a:p>
          <a:p>
            <a:r>
              <a:t>Os contornos não foram desenhados no olho: cada caixa foi medida com getBoundingClientRect na versão atual.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Organizar — Estúdio — a casa do designer.</a:t>
            </a:r>
          </a:p>
          <a:p>
            <a:r>
              <a:t>1. Começar do zero ou de um arquivo — Estúdio → Criar material · Photoshop · Illustrator</a:t>
            </a:r>
          </a:p>
          <a:p>
            <a:r>
              <a:t>2. Biblioteca de materiais — Estúdio → Todos os materiais</a:t>
            </a:r>
          </a:p>
          <a:p>
            <a:r>
              <a:t>3. Busca e filtros — Estúdio → topo da biblioteca</a:t>
            </a:r>
          </a:p>
          <a:p>
            <a:r>
              <a:t>4. Pasta de destino — Estúdio → cabeçalho</a:t>
            </a:r>
          </a:p>
          <a:p>
            <a:r>
              <a:t>Os contornos não foram desenhados no olho: cada caixa foi medida com getBoundingClientRect na versão atual.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Publicar e exportar — Exportar e publicar.</a:t>
            </a:r>
          </a:p>
          <a:p>
            <a:r>
              <a:t>1. Formato de saída — Exportar → Formato</a:t>
            </a:r>
          </a:p>
          <a:p>
            <a:r>
              <a:t>2. Escala de exportação — Exportar → Escala</a:t>
            </a:r>
          </a:p>
          <a:p>
            <a:r>
              <a:t>Os contornos não foram desenhados no olho: cada caixa foi medida com getBoundingClientRect na versão atual.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Manter e diagnosticar — Console do time.</a:t>
            </a:r>
          </a:p>
          <a:p>
            <a:r>
              <a:t>1. Luma CLI — Ctrl+` no desktop · painel de perfil no celular</a:t>
            </a:r>
          </a:p>
          <a:p>
            <a:r>
              <a:t>2. Conversa com a IA — CLI → qualquer frase que não seja comando</a:t>
            </a:r>
          </a:p>
          <a:p>
            <a:r>
              <a:t>Os contornos não foram desenhados no olho: cada caixa foi medida com getBoundingClientRect na versão atual.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design system. As duas imagens são do MESMO commit, no mesmo dia — a diferença é só a campanha aberta.</a:t>
            </a:r>
          </a:p>
          <a:p>
            <a:r>
              <a:t>Isso prova que a troca de tema é por token, não por código duplicado. É o que permite receber uma marca parceira sem fork.</a:t>
            </a:r>
          </a:p>
          <a:p>
            <a:r>
              <a:t>O tema foi concebido no luma-brain em 22/07, antes de existir em código.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 que responde "amadureceu em quê, exatamente".</a:t>
            </a:r>
          </a:p>
          <a:p>
            <a:r>
              <a:t>O item 4 é o mais subestimado: um aviso de sucesso que mente custa mais caro que um erro visível.</a:t>
            </a:r>
          </a:p>
          <a:p>
            <a:r>
              <a:t>O item 5 é meta — a ferramenta que reabre versões antigas é a que gerou esta apresentação.</a:t>
            </a:r>
          </a:p>
          <a:p>
            <a:r>
              <a:t>~1min10.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Panorama. Não descreva tela por tela — deixe a imagem falar e diga que tudo saiu da mesma versão, no mesmo dia.</a:t>
            </a:r>
          </a:p>
          <a:p>
            <a:r>
              <a:t>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contados no repositório na hora em que a apresentação foi gerada — nenhum é estimativa.</a:t>
            </a:r>
          </a:p>
          <a:p>
            <a:r>
              <a:t>O último card costuma surpreender engenheiro: cresceu tudo isso **sem** adotar framework nem build.</a:t>
            </a:r>
          </a:p>
          <a:p>
            <a:r>
              <a:t>Se perguntarem sobre adoção ou uso: esses números não existem aqui. O repositório mede código, não usuários.</a:t>
            </a:r>
          </a:p>
          <a:p>
            <a:r>
              <a:t>~1min.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Fechamento. A última oração da frase tem lastro: o produto cresceu vinte vezes e continua sem build, sem framework e sem dependência de runtime.</a:t>
            </a:r>
          </a:p>
          <a:p>
            <a:r>
              <a:t>Termine convidando: a apresentação se regenera com um comando, então acompanha o produto em vez de envelhecer.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