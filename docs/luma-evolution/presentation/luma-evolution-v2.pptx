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Diga a tese: não é changelog, é a passagem de uma necessidade interna para um produto.</a:t>
            </a:r>
          </a:p>
          <a:p>
            <a:r>
              <a:t>E diga de saída que nada aqui é mockup — toda imagem é uma execução real de uma versão que voltou a rodar.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 com a plateia. Os itens 4 e 5 são os que interessam a quem vai usar o Luma amanhã.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ancora tudo. O arquivo **roda** — é o HTML original executado agora, não um print de arquivo morto.</a:t>
            </a:r>
          </a:p>
          <a:p>
            <a:r>
              <a:t>Seja honesto na origem: é a primeira versão **conhecida e preservada**, entregue fora do repositório. Não é o primeiro commit — o git não guarda o começo.</a:t>
            </a:r>
          </a:p>
          <a:p>
            <a:r>
              <a:t>Dois detalhes fortes: a fonte da marca já vinha embutida em base64, e a convenção de prefixos do código de hoje nasceu aqui.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marcos escolhidos por diferença visual clara — não por serem recentes.</a:t>
            </a:r>
          </a:p>
          <a:p>
            <a:r>
              <a:t>O histórico versionado é curto: 15 dias, 77 commits, e metade deles no primeiro dia. A forma que importa é: um piloto, uma fundação enorme, duas semanas de refino e um salto de capacidade no fim.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forma do trabalho num quadro. Dois picos — 07/16 e 07/30 — concentram mais da metade dos commits.</a:t>
            </a:r>
          </a:p>
          <a:p>
            <a:r>
              <a:t>O vazio no meio não é ócio: 22/07 são seis commits só de planejamento no luma-brain, sem tocar em tela.</a:t>
            </a:r>
          </a:p>
          <a:p>
            <a:r>
              <a:t>Deixe a plateia varrer as faixas: dá para ver o produto mudando de foco — franqueado e designer no início, IA e console no fim.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1 de 3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2 de 3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Página 3 de 3 do histórico completo. Não leia em voz alta — está aqui para quem quiser conferir depois.</a:t>
            </a:r>
          </a:p>
          <a:p>
            <a:r>
              <a:t>Se alguém perguntar por um commit específico, é nestes slides que ele está.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principal. Diga a regra de leitura uma vez: esquerda é o primeiro commit, meio é a véspera da 1.0, direita é hoje.</a:t>
            </a:r>
          </a:p>
          <a:p>
            <a:r>
              <a:t>A coluna do meio é a que mais informa — repare quantas vezes ela é igual à primeira.</a:t>
            </a:r>
          </a:p>
          <a:p>
            <a:r>
              <a:t>~15s.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Comece por aqui se tiver pouco tempo: é a comparação mais imediata da apresentação.</a:t>
            </a:r>
          </a:p>
          <a:p>
            <a:r>
              <a:t>Repare que as artes na coluna esquerda são materiais reais do catálogo, não ilustração.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Comparação de três pontos do git. O do meio é o mais revelador: prova que a 1.0 foi declarada sobre uma base endurecida, não redesenhada.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Aponte os cards da esquerda e os da direita. A mudança de bloco de cor para capa real é o que dá ao franqueado a chance de reconhecer a campanha antes de abrir.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para mostrar contenção: a tela mais importante do produto ficou com MENOS elementos, não mais.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forte do bloco. À esquerda, "Abertos recentemente: 0 materiais". À direita, uma biblioteca com busca e filtro.</a:t>
            </a:r>
          </a:p>
          <a:p>
            <a:r>
              <a:t>A diferença não é estética — é a diferença entre uma ferramenta e um acervo.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Diferença pequena na tela, grande no processo. Antes, sair do Luma era achatar a arte.</a:t>
            </a:r>
          </a:p>
          <a:p>
            <a:r>
              <a:t>Complementa o import de PSD que já existia: agora o caminho é de ida e volta.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honesto e importante. Se todas as telas mudassem muito, a apresentação estaria contando a história errada.</a:t>
            </a:r>
          </a:p>
          <a:p>
            <a:r>
              <a:t>Esta chegou certa no primeiro dia. O trabalho foi fazer o dado sobreviver por trás dela.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bom para quem cuida de acesso. O selo DEV ao lado de Console é a entrada do Luma CLI aparecendo na interface — antes era só atalho de teclado.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miniatura flutuante é a "prévia viva" de 16/07 chegando ao chat: no celular, ver a arte enquanto responde é a diferença entre confiar e conferir depois.</a:t>
            </a:r>
          </a:p>
          <a:p>
            <a:r>
              <a:t>Repare que aqui a coluna do meio JÁ difere da primeira — é a exceção no bloco.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houver franqueado na sala, este slide fala com ele: o uso real acontece no celular.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sem "antes", e é esse o ponto: o produto passou a ter ferramenta interna própria.</a:t>
            </a:r>
          </a:p>
          <a:p>
            <a:r>
              <a:t>O conhecimento que morava na cabeça de quem debugava virou comando nomeado.</a:t>
            </a:r>
          </a:p>
          <a:p>
            <a:r>
              <a:t>Ressalte a última linha se houver alguém de segurança na sala.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system, e o achado aqui é o contrário do esperado: as duas últimas faixas são quase idênticas.</a:t>
            </a:r>
          </a:p>
          <a:p>
            <a:r>
              <a:t>Isso é a mensagem. A identidade se resolveu cedo e não precisou de retoque, enquanto o resto do produto quadruplicou de tamanho.</a:t>
            </a:r>
          </a:p>
          <a:p>
            <a:r>
              <a:t>Se alguém perguntar por que não mostrar mais versões: porque não há diferença para mostrar.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recorte que melhor mostra intenção de produto: o texto "Qual arte vamos criar hoje?" não é enfeite, é o que transforma uma tela de lista numa tela de decisão.</a:t>
            </a:r>
          </a:p>
          <a:p>
            <a:r>
              <a:t>O placeholder da busca traz exemplo real (Sushi, Almoço) em vez de "digite aqui".</a:t>
            </a:r>
          </a:p>
          <a:p>
            <a:r>
              <a:t>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Recorte que mostra edição, não adição. "Assistente criativo" era o nome interno da feature aparecendo na cara do usuário.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Detalhe pequeno com efeito grande em telas menores: com zoom fixo, a prévia ficava cortada em notebook de 13 polegadas.</a:t>
            </a:r>
          </a:p>
          <a:p>
            <a:r>
              <a:t>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copy, e o ponto é que copy é interface. "Dê forma à próxima campanha" soa bem e não diz o que fazer.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slide-resumo do bloco. Cada item tem commit e data, então nenhum é impressão.</a:t>
            </a:r>
          </a:p>
          <a:p>
            <a:r>
              <a:t>Se precisar cortar tempo, este slide substitui os sete de tira — mas perde a evidência visual.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Divisor do bloco mais útil para quem vai usar o Luma amanhã: é literalmente um mapa.</a:t>
            </a:r>
          </a:p>
          <a:p>
            <a:r>
              <a:t>~10s.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Criar — Vitrine — por onde se começa.</a:t>
            </a:r>
          </a:p>
          <a:p>
            <a:r>
              <a:t>1. Campanha em destaque — Vitrine → primeiro bloco</a:t>
            </a:r>
          </a:p>
          <a:p>
            <a:r>
              <a:t>2. Busca de campanha — Vitrine → campo de busca</a:t>
            </a:r>
          </a:p>
          <a:p>
            <a:r>
              <a:t>3. Minhas artes — Vitrine → cabeçalho</a:t>
            </a:r>
          </a:p>
          <a:p>
            <a:r>
              <a:t>4. Alternador Franqueado / Designer — Topbar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Editar — Campanha aberta — o chat que monta a arte.</a:t>
            </a:r>
          </a:p>
          <a:p>
            <a:r>
              <a:t>1. Chat de preenchimento — Campanha → material → Personalizar</a:t>
            </a:r>
          </a:p>
          <a:p>
            <a:r>
              <a:t>2. Prévia ao vivo — Coluna da direita</a:t>
            </a:r>
          </a:p>
          <a:p>
            <a:r>
              <a:t>3. Campo de resposta — Rodapé do chat</a:t>
            </a:r>
          </a:p>
          <a:p>
            <a:r>
              <a:t>4. Contexto da campanha — Topo do chat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Organizar — Estúdio — a casa do designer.</a:t>
            </a:r>
          </a:p>
          <a:p>
            <a:r>
              <a:t>1. Começar do zero ou de um arquivo — Estúdio → Criar material · Photoshop · Illustrator</a:t>
            </a:r>
          </a:p>
          <a:p>
            <a:r>
              <a:t>2. Biblioteca de materiais — Estúdio → Todos os materiais</a:t>
            </a:r>
          </a:p>
          <a:p>
            <a:r>
              <a:t>3. Busca e filtros — Estúdio → topo da biblioteca</a:t>
            </a:r>
          </a:p>
          <a:p>
            <a:r>
              <a:t>4. Pasta de destino — Estúdio → cabeçalho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Publicar e exportar — Exportar e publicar.</a:t>
            </a:r>
          </a:p>
          <a:p>
            <a:r>
              <a:t>1. Formato de saída — Exportar → Formato</a:t>
            </a:r>
          </a:p>
          <a:p>
            <a:r>
              <a:t>2. Escala de exportação — Exportar → Escala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Manter e diagnosticar — Console do time.</a:t>
            </a:r>
          </a:p>
          <a:p>
            <a:r>
              <a:t>1. Luma CLI — Ctrl+` no desktop · painel de perfil no celular</a:t>
            </a:r>
          </a:p>
          <a:p>
            <a:r>
              <a:t>2. Conversa com a IA — CLI → qualquer frase que não seja comando</a:t>
            </a:r>
          </a:p>
          <a:p>
            <a:r>
              <a:t>Os contornos não foram desenhados no olho: cada caixa foi medida com getBoundingClientRect na versão atual.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design system. As duas imagens são do MESMO commit, no mesmo dia — a diferença é só a campanha aberta.</a:t>
            </a:r>
          </a:p>
          <a:p>
            <a:r>
              <a:t>Isso prova que a troca de tema é por token, não por código duplicado. É o que permite receber uma marca parceira sem fork.</a:t>
            </a:r>
          </a:p>
          <a:p>
            <a:r>
              <a:t>O tema foi concebido no luma-brain em 22/07, antes de existir em código.</a:t>
            </a:r>
          </a:p>
          <a:p>
            <a:r>
              <a:t>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que responde "amadureceu em quê, exatamente".</a:t>
            </a:r>
          </a:p>
          <a:p>
            <a:r>
              <a:t>O item 4 é o mais subestimado: um aviso de sucesso que mente custa mais caro que um erro visível.</a:t>
            </a:r>
          </a:p>
          <a:p>
            <a:r>
              <a:t>O item 5 é meta — a ferramenta que reabre versões antigas é a que gerou esta apresentação.</a:t>
            </a:r>
          </a:p>
          <a:p>
            <a:r>
              <a:t>~1min10.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1 de 3: Criar material, Importar PSD, Atalhos do Estúdio.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2 de 3: Campanha no celular, , Tema Much+.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3 de 3: Vitrine, Estúdio, Console do time.</a:t>
            </a:r>
          </a:p>
          <a:p>
            <a:r>
              <a:t>Não descreva tela por tela — deixe a imagem falar e diga que tudo saiu da mesma versão, no mesmo dia.</a:t>
            </a:r>
          </a:p>
          <a:p>
            <a:r>
              <a:t>~30s.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 contados no repositório na hora em que a apresentação foi gerada — nenhum é estimativa.</a:t>
            </a:r>
          </a:p>
          <a:p>
            <a:r>
              <a:t>O último card costuma surpreender engenheiro: cresceu tudo isso **sem** adotar framework nem build.</a:t>
            </a:r>
          </a:p>
          <a:p>
            <a:r>
              <a:t>Se perguntarem sobre adoção ou uso: esses números não existem aqui. O repositório mede código, não usuários.</a:t>
            </a:r>
          </a:p>
          <a:p>
            <a:r>
              <a:t>~1min.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Fechamento. A última oração da frase tem lastro: o produto cresceu vinte vezes e continua sem build, sem framework e sem dependência de runtime.</a:t>
            </a:r>
          </a:p>
          <a:p>
            <a:r>
              <a:t>Termine convidando: a apresentação se regenera com um comando, então acompanha o produto em vez de envelhecer.</a:t>
            </a:r>
          </a:p>
          <a:p>
            <a:r>
              <a:t>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